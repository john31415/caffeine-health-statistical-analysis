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arlow" panose="020B0604020202020204" charset="0"/>
      <p:regular r:id="rId12"/>
    </p:embeddedFont>
    <p:embeddedFont>
      <p:font typeface="Barlow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 Bold" panose="020B0604020202020204" charset="0"/>
      <p:regular r:id="rId18"/>
    </p:embeddedFont>
    <p:embeddedFont>
      <p:font typeface="Open Sans 1" panose="020B0604020202020204" charset="0"/>
      <p:regular r:id="rId19"/>
    </p:embeddedFont>
    <p:embeddedFont>
      <p:font typeface="Open Sans 1 Bold" panose="020B0604020202020204" charset="0"/>
      <p:regular r:id="rId20"/>
    </p:embeddedFont>
    <p:embeddedFont>
      <p:font typeface="Open Sans 2" panose="020B0604020202020204" charset="0"/>
      <p:regular r:id="rId21"/>
    </p:embeddedFont>
    <p:embeddedFont>
      <p:font typeface="Open Sans 2 Bold" panose="020B0604020202020204" charset="0"/>
      <p:regular r:id="rId22"/>
    </p:embeddedFont>
    <p:embeddedFont>
      <p:font typeface="Open Sans 2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46" y="20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D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6400800" cy="7200900"/>
          </a:xfrm>
          <a:prstGeom prst="rect">
            <a:avLst/>
          </a:prstGeom>
          <a:solidFill>
            <a:srgbClr val="4E2215"/>
          </a:solidFill>
        </p:spPr>
      </p:sp>
      <p:grpSp>
        <p:nvGrpSpPr>
          <p:cNvPr id="3" name="Group 3"/>
          <p:cNvGrpSpPr/>
          <p:nvPr/>
        </p:nvGrpSpPr>
        <p:grpSpPr>
          <a:xfrm>
            <a:off x="1613056" y="1771981"/>
            <a:ext cx="6799321" cy="7486319"/>
            <a:chOff x="0" y="0"/>
            <a:chExt cx="812800" cy="8949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94925"/>
            </a:xfrm>
            <a:custGeom>
              <a:avLst/>
              <a:gdLst/>
              <a:ahLst/>
              <a:cxnLst/>
              <a:rect l="l" t="t" r="r" b="b"/>
              <a:pathLst>
                <a:path w="812800" h="894925">
                  <a:moveTo>
                    <a:pt x="0" y="0"/>
                  </a:moveTo>
                  <a:lnTo>
                    <a:pt x="812800" y="0"/>
                  </a:lnTo>
                  <a:lnTo>
                    <a:pt x="812800" y="894925"/>
                  </a:lnTo>
                  <a:lnTo>
                    <a:pt x="0" y="894925"/>
                  </a:lnTo>
                  <a:close/>
                </a:path>
              </a:pathLst>
            </a:custGeom>
            <a:blipFill>
              <a:blip r:embed="rId2"/>
              <a:stretch>
                <a:fillRect t="-18160" b="-1816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593926" y="1593950"/>
            <a:ext cx="7427438" cy="6998448"/>
            <a:chOff x="0" y="-9525"/>
            <a:chExt cx="9903250" cy="9331264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903250" cy="2727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39"/>
                </a:lnSpc>
              </a:pPr>
              <a:r>
                <a:rPr lang="en-US" sz="66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Cafeína</a:t>
              </a:r>
              <a:r>
                <a:rPr lang="en-US" sz="66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y </a:t>
              </a:r>
              <a:r>
                <a:rPr lang="en-US" sz="66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Salud</a:t>
              </a:r>
              <a:r>
                <a:rPr lang="en-US" sz="66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: </a:t>
              </a:r>
              <a:r>
                <a:rPr lang="en-US" sz="66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Análisis</a:t>
              </a:r>
              <a:r>
                <a:rPr lang="en-US" sz="66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</a:t>
              </a:r>
              <a:r>
                <a:rPr lang="en-US" sz="66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Estadístico</a:t>
              </a:r>
              <a:endParaRPr lang="en-US" sz="6699" b="1" dirty="0">
                <a:solidFill>
                  <a:srgbClr val="4E2215"/>
                </a:solidFill>
                <a:latin typeface="Barlow Bold"/>
                <a:ea typeface="Barlow Bold"/>
                <a:cs typeface="Barlow Bold"/>
                <a:sym typeface="Barlow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8055" y="4677394"/>
              <a:ext cx="8987143" cy="724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79"/>
                </a:lnSpc>
              </a:pP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Análisis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de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datos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sobre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el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consumo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de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cafeína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y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su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impacto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en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la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salud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y la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higiene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del </a:t>
              </a:r>
              <a:r>
                <a:rPr lang="en-US" sz="3399" b="1" dirty="0" err="1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sueño</a:t>
              </a:r>
              <a:r>
                <a:rPr lang="en-US" sz="3399" b="1" dirty="0">
                  <a:solidFill>
                    <a:srgbClr val="4E221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8054" y="7282754"/>
              <a:ext cx="8987143" cy="2038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799" spc="11">
                  <a:solidFill>
                    <a:srgbClr val="4E2215"/>
                  </a:solidFill>
                  <a:latin typeface="Barlow"/>
                  <a:ea typeface="Barlow"/>
                  <a:cs typeface="Barlow"/>
                  <a:sym typeface="Barlow"/>
                </a:rPr>
                <a:t>John Mauris López Ramos</a:t>
              </a:r>
            </a:p>
            <a:p>
              <a:pPr algn="l">
                <a:lnSpc>
                  <a:spcPts val="4199"/>
                </a:lnSpc>
              </a:pPr>
              <a:r>
                <a:rPr lang="en-US" sz="2799" spc="11">
                  <a:solidFill>
                    <a:srgbClr val="4E2215"/>
                  </a:solidFill>
                  <a:latin typeface="Barlow"/>
                  <a:ea typeface="Barlow"/>
                  <a:cs typeface="Barlow"/>
                  <a:sym typeface="Barlow"/>
                </a:rPr>
                <a:t>C-312</a:t>
              </a:r>
            </a:p>
            <a:p>
              <a:pPr marL="0" lvl="0" indent="0" algn="l">
                <a:lnSpc>
                  <a:spcPts val="4199"/>
                </a:lnSpc>
              </a:pPr>
              <a:r>
                <a:rPr lang="en-US" sz="2799" spc="11">
                  <a:solidFill>
                    <a:srgbClr val="4E2215"/>
                  </a:solidFill>
                  <a:latin typeface="Barlow"/>
                  <a:ea typeface="Barlow"/>
                  <a:cs typeface="Barlow"/>
                  <a:sym typeface="Barlow"/>
                </a:rPr>
                <a:t>Febrero 2026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D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41984" y="5332095"/>
            <a:ext cx="14604032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318234" y="1085850"/>
            <a:ext cx="5363973" cy="1795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78"/>
              </a:lnSpc>
            </a:pPr>
            <a:r>
              <a:rPr lang="en-US" sz="6343" b="1" dirty="0" err="1">
                <a:solidFill>
                  <a:srgbClr val="96411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Preguntas</a:t>
            </a:r>
            <a:r>
              <a:rPr lang="en-US" sz="6343" b="1" dirty="0">
                <a:solidFill>
                  <a:srgbClr val="96411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</a:t>
            </a:r>
            <a:r>
              <a:rPr lang="en-US" sz="6343" b="1" dirty="0" err="1">
                <a:solidFill>
                  <a:srgbClr val="96411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investigación</a:t>
            </a:r>
            <a:endParaRPr lang="en-US" sz="6343" b="1" dirty="0">
              <a:solidFill>
                <a:srgbClr val="964119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047900" y="1028700"/>
            <a:ext cx="5921866" cy="3809365"/>
            <a:chOff x="0" y="0"/>
            <a:chExt cx="7895821" cy="5079153"/>
          </a:xfrm>
        </p:grpSpPr>
        <p:sp>
          <p:nvSpPr>
            <p:cNvPr id="5" name="TextBox 5"/>
            <p:cNvSpPr txBox="1"/>
            <p:nvPr/>
          </p:nvSpPr>
          <p:spPr>
            <a:xfrm>
              <a:off x="0" y="-28575"/>
              <a:ext cx="7895821" cy="1224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4E221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¿De qué manera la ingesta de cafeína condiciona la arquitectura del sueño al controlar factores demográficos y de estilo de vida?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12832"/>
              <a:ext cx="7895821" cy="1224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4E221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¿Cuál es la fuerza de asociación entre el consumo de café y los niveles de estrés o morbilidades reportadas?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54238"/>
              <a:ext cx="7895821" cy="1224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4E221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¿Existen agrupamientos naturales (clusters) de individuos definidos por su comportamiento de consumo y salud?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18234" y="5892800"/>
            <a:ext cx="5363973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dirty="0" err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Objetivos</a:t>
            </a:r>
            <a:endParaRPr lang="en-US" sz="6999" b="1" dirty="0">
              <a:solidFill>
                <a:srgbClr val="4E2215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047900" y="5826125"/>
            <a:ext cx="5921866" cy="3432175"/>
            <a:chOff x="0" y="0"/>
            <a:chExt cx="7895821" cy="457623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7895821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96411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Identificar patrones de distribución y valores atípicos en las variables biométricas.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569508"/>
              <a:ext cx="7895821" cy="1389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96411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Estimar la magnitud del efecto de la cafeína sobre el sueño y el estrés mediante modelos estadísticos.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656541"/>
              <a:ext cx="7895821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96411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Clasificar la población en perfiles de riesgo o bienestar mediante análisis multivariado.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187203" y="8482742"/>
            <a:ext cx="2840542" cy="3243079"/>
          </a:xfrm>
          <a:custGeom>
            <a:avLst/>
            <a:gdLst/>
            <a:ahLst/>
            <a:cxnLst/>
            <a:rect l="l" t="t" r="r" b="b"/>
            <a:pathLst>
              <a:path w="2840542" h="3243079">
                <a:moveTo>
                  <a:pt x="0" y="0"/>
                </a:moveTo>
                <a:lnTo>
                  <a:pt x="2840542" y="0"/>
                </a:lnTo>
                <a:lnTo>
                  <a:pt x="2840542" y="3243080"/>
                </a:lnTo>
                <a:lnTo>
                  <a:pt x="0" y="324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6562589">
            <a:off x="-105021" y="9649341"/>
            <a:ext cx="1117023" cy="1275318"/>
          </a:xfrm>
          <a:custGeom>
            <a:avLst/>
            <a:gdLst/>
            <a:ahLst/>
            <a:cxnLst/>
            <a:rect l="l" t="t" r="r" b="b"/>
            <a:pathLst>
              <a:path w="1117023" h="1275318">
                <a:moveTo>
                  <a:pt x="0" y="0"/>
                </a:moveTo>
                <a:lnTo>
                  <a:pt x="1117023" y="0"/>
                </a:lnTo>
                <a:lnTo>
                  <a:pt x="1117023" y="1275318"/>
                </a:lnTo>
                <a:lnTo>
                  <a:pt x="0" y="12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8665193">
            <a:off x="1295443" y="4344892"/>
            <a:ext cx="1117023" cy="1275318"/>
          </a:xfrm>
          <a:custGeom>
            <a:avLst/>
            <a:gdLst/>
            <a:ahLst/>
            <a:cxnLst/>
            <a:rect l="l" t="t" r="r" b="b"/>
            <a:pathLst>
              <a:path w="1117023" h="1275318">
                <a:moveTo>
                  <a:pt x="0" y="0"/>
                </a:moveTo>
                <a:lnTo>
                  <a:pt x="1117024" y="0"/>
                </a:lnTo>
                <a:lnTo>
                  <a:pt x="1117024" y="1275318"/>
                </a:lnTo>
                <a:lnTo>
                  <a:pt x="0" y="12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251055">
            <a:off x="9628977" y="2614074"/>
            <a:ext cx="392010" cy="447562"/>
          </a:xfrm>
          <a:custGeom>
            <a:avLst/>
            <a:gdLst/>
            <a:ahLst/>
            <a:cxnLst/>
            <a:rect l="l" t="t" r="r" b="b"/>
            <a:pathLst>
              <a:path w="392010" h="447562">
                <a:moveTo>
                  <a:pt x="0" y="0"/>
                </a:moveTo>
                <a:lnTo>
                  <a:pt x="392010" y="0"/>
                </a:lnTo>
                <a:lnTo>
                  <a:pt x="392010" y="447562"/>
                </a:lnTo>
                <a:lnTo>
                  <a:pt x="0" y="447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2301823">
            <a:off x="9319870" y="1178624"/>
            <a:ext cx="584132" cy="666910"/>
          </a:xfrm>
          <a:custGeom>
            <a:avLst/>
            <a:gdLst/>
            <a:ahLst/>
            <a:cxnLst/>
            <a:rect l="l" t="t" r="r" b="b"/>
            <a:pathLst>
              <a:path w="584132" h="666910">
                <a:moveTo>
                  <a:pt x="0" y="0"/>
                </a:moveTo>
                <a:lnTo>
                  <a:pt x="584132" y="0"/>
                </a:lnTo>
                <a:lnTo>
                  <a:pt x="584132" y="666910"/>
                </a:lnTo>
                <a:lnTo>
                  <a:pt x="0" y="666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6253174">
            <a:off x="9462827" y="4275132"/>
            <a:ext cx="658181" cy="751453"/>
          </a:xfrm>
          <a:custGeom>
            <a:avLst/>
            <a:gdLst/>
            <a:ahLst/>
            <a:cxnLst/>
            <a:rect l="l" t="t" r="r" b="b"/>
            <a:pathLst>
              <a:path w="658181" h="751453">
                <a:moveTo>
                  <a:pt x="0" y="0"/>
                </a:moveTo>
                <a:lnTo>
                  <a:pt x="658181" y="0"/>
                </a:lnTo>
                <a:lnTo>
                  <a:pt x="658181" y="751453"/>
                </a:lnTo>
                <a:lnTo>
                  <a:pt x="0" y="751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5243846">
            <a:off x="9377199" y="5950816"/>
            <a:ext cx="369925" cy="422348"/>
          </a:xfrm>
          <a:custGeom>
            <a:avLst/>
            <a:gdLst/>
            <a:ahLst/>
            <a:cxnLst/>
            <a:rect l="l" t="t" r="r" b="b"/>
            <a:pathLst>
              <a:path w="369925" h="422348">
                <a:moveTo>
                  <a:pt x="0" y="0"/>
                </a:moveTo>
                <a:lnTo>
                  <a:pt x="369925" y="0"/>
                </a:lnTo>
                <a:lnTo>
                  <a:pt x="369925" y="422347"/>
                </a:lnTo>
                <a:lnTo>
                  <a:pt x="0" y="422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2291456">
            <a:off x="9165234" y="6827298"/>
            <a:ext cx="708441" cy="808835"/>
          </a:xfrm>
          <a:custGeom>
            <a:avLst/>
            <a:gdLst/>
            <a:ahLst/>
            <a:cxnLst/>
            <a:rect l="l" t="t" r="r" b="b"/>
            <a:pathLst>
              <a:path w="708441" h="808835">
                <a:moveTo>
                  <a:pt x="0" y="0"/>
                </a:moveTo>
                <a:lnTo>
                  <a:pt x="708441" y="0"/>
                </a:lnTo>
                <a:lnTo>
                  <a:pt x="708441" y="808835"/>
                </a:lnTo>
                <a:lnTo>
                  <a:pt x="0" y="808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6670335">
            <a:off x="9157034" y="8443256"/>
            <a:ext cx="734488" cy="838573"/>
          </a:xfrm>
          <a:custGeom>
            <a:avLst/>
            <a:gdLst/>
            <a:ahLst/>
            <a:cxnLst/>
            <a:rect l="l" t="t" r="r" b="b"/>
            <a:pathLst>
              <a:path w="734488" h="838573">
                <a:moveTo>
                  <a:pt x="0" y="0"/>
                </a:moveTo>
                <a:lnTo>
                  <a:pt x="734488" y="0"/>
                </a:lnTo>
                <a:lnTo>
                  <a:pt x="734488" y="838573"/>
                </a:lnTo>
                <a:lnTo>
                  <a:pt x="0" y="838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D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3450" y="5769914"/>
            <a:ext cx="3828576" cy="6266319"/>
            <a:chOff x="0" y="0"/>
            <a:chExt cx="1008349" cy="16503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8349" cy="1650388"/>
            </a:xfrm>
            <a:custGeom>
              <a:avLst/>
              <a:gdLst/>
              <a:ahLst/>
              <a:cxnLst/>
              <a:rect l="l" t="t" r="r" b="b"/>
              <a:pathLst>
                <a:path w="1008349" h="1650388">
                  <a:moveTo>
                    <a:pt x="0" y="0"/>
                  </a:moveTo>
                  <a:lnTo>
                    <a:pt x="1008349" y="0"/>
                  </a:lnTo>
                  <a:lnTo>
                    <a:pt x="1008349" y="1650388"/>
                  </a:lnTo>
                  <a:lnTo>
                    <a:pt x="0" y="1650388"/>
                  </a:lnTo>
                  <a:close/>
                </a:path>
              </a:pathLst>
            </a:custGeom>
            <a:solidFill>
              <a:srgbClr val="69402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08349" cy="1688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71957" y="7831065"/>
            <a:ext cx="3051564" cy="162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ID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Edad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Género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País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Ocupación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1957" y="6287209"/>
            <a:ext cx="3038798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924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Variables </a:t>
            </a:r>
            <a:r>
              <a:rPr lang="en-US" sz="24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demográficas</a:t>
            </a:r>
            <a:endParaRPr lang="en-US" sz="2499" b="1" dirty="0">
              <a:solidFill>
                <a:srgbClr val="F3DBC5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327927" y="230256"/>
            <a:ext cx="10315289" cy="3122861"/>
            <a:chOff x="0" y="0"/>
            <a:chExt cx="2716784" cy="8224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16784" cy="822482"/>
            </a:xfrm>
            <a:custGeom>
              <a:avLst/>
              <a:gdLst/>
              <a:ahLst/>
              <a:cxnLst/>
              <a:rect l="l" t="t" r="r" b="b"/>
              <a:pathLst>
                <a:path w="2716784" h="822482">
                  <a:moveTo>
                    <a:pt x="0" y="0"/>
                  </a:moveTo>
                  <a:lnTo>
                    <a:pt x="2716784" y="0"/>
                  </a:lnTo>
                  <a:lnTo>
                    <a:pt x="2716784" y="822482"/>
                  </a:lnTo>
                  <a:lnTo>
                    <a:pt x="0" y="822482"/>
                  </a:lnTo>
                  <a:close/>
                </a:path>
              </a:pathLst>
            </a:custGeom>
            <a:solidFill>
              <a:srgbClr val="69402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16784" cy="860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375608" y="5567413"/>
            <a:ext cx="3051564" cy="324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Consumo diario de café en tazas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Ingesta diaria estimada de cafeína en miligramos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Consumo de tabaco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Consumo de alcohol 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Horas semanales de actividad física</a:t>
            </a:r>
          </a:p>
          <a:p>
            <a:pPr marL="0" lvl="0" indent="0" algn="l">
              <a:lnSpc>
                <a:spcPts val="2600"/>
              </a:lnSpc>
              <a:spcBef>
                <a:spcPct val="0"/>
              </a:spcBef>
            </a:pPr>
            <a:endParaRPr lang="en-US" sz="2000">
              <a:solidFill>
                <a:srgbClr val="4E2215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88374" y="4115117"/>
            <a:ext cx="3038798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Variables de </a:t>
            </a:r>
            <a:r>
              <a:rPr lang="en-US" sz="2499" b="1" dirty="0" err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consumo</a:t>
            </a:r>
            <a:r>
              <a:rPr lang="en-US" sz="2499" b="1" dirty="0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y </a:t>
            </a:r>
            <a:r>
              <a:rPr lang="en-US" sz="2499" b="1" dirty="0" err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hábitos</a:t>
            </a:r>
            <a:endParaRPr lang="en-US" sz="2499" b="1" dirty="0">
              <a:solidFill>
                <a:srgbClr val="4E2215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0" y="742950"/>
            <a:ext cx="9358127" cy="2089770"/>
            <a:chOff x="0" y="0"/>
            <a:chExt cx="12477503" cy="27863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12477503" cy="102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6000"/>
                </a:lnSpc>
                <a:spcBef>
                  <a:spcPct val="0"/>
                </a:spcBef>
              </a:pPr>
              <a:r>
                <a:rPr lang="en-US" sz="5000" b="1" dirty="0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Global Coffee Health Dataset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176760"/>
              <a:ext cx="5213806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3DBC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10000 observaciones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01440"/>
              <a:ext cx="4999724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sng">
                  <a:solidFill>
                    <a:srgbClr val="F3DBC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kaggle.com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03472" y="5769914"/>
            <a:ext cx="4214849" cy="5333937"/>
            <a:chOff x="0" y="0"/>
            <a:chExt cx="1110084" cy="14048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10084" cy="1404823"/>
            </a:xfrm>
            <a:custGeom>
              <a:avLst/>
              <a:gdLst/>
              <a:ahLst/>
              <a:cxnLst/>
              <a:rect l="l" t="t" r="r" b="b"/>
              <a:pathLst>
                <a:path w="1110084" h="1404823">
                  <a:moveTo>
                    <a:pt x="0" y="0"/>
                  </a:moveTo>
                  <a:lnTo>
                    <a:pt x="1110084" y="0"/>
                  </a:lnTo>
                  <a:lnTo>
                    <a:pt x="1110084" y="1404823"/>
                  </a:lnTo>
                  <a:lnTo>
                    <a:pt x="0" y="1404823"/>
                  </a:lnTo>
                  <a:close/>
                </a:path>
              </a:pathLst>
            </a:custGeom>
            <a:solidFill>
              <a:srgbClr val="69402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10084" cy="1442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857330" y="6018495"/>
            <a:ext cx="3038798" cy="146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499" b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Variables relacionadas con el sueño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775621" y="4941278"/>
            <a:ext cx="3051564" cy="146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Variables </a:t>
            </a:r>
            <a:r>
              <a:rPr lang="en-US" sz="2499" b="1" dirty="0" err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fisiológicas</a:t>
            </a:r>
            <a:r>
              <a:rPr lang="en-US" sz="2499" b="1" dirty="0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y de </a:t>
            </a:r>
            <a:r>
              <a:rPr lang="en-US" sz="2499" b="1" dirty="0" err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salud</a:t>
            </a:r>
            <a:endParaRPr lang="en-US" sz="2499" b="1" dirty="0">
              <a:solidFill>
                <a:srgbClr val="4E2215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1" name="Freeform 21"/>
          <p:cNvSpPr/>
          <p:nvPr/>
        </p:nvSpPr>
        <p:spPr>
          <a:xfrm rot="6527066">
            <a:off x="8595321" y="-711476"/>
            <a:ext cx="7285969" cy="7088391"/>
          </a:xfrm>
          <a:custGeom>
            <a:avLst/>
            <a:gdLst/>
            <a:ahLst/>
            <a:cxnLst/>
            <a:rect l="l" t="t" r="r" b="b"/>
            <a:pathLst>
              <a:path w="7285969" h="7088391">
                <a:moveTo>
                  <a:pt x="0" y="0"/>
                </a:moveTo>
                <a:lnTo>
                  <a:pt x="7285969" y="0"/>
                </a:lnTo>
                <a:lnTo>
                  <a:pt x="7285969" y="7088391"/>
                </a:lnTo>
                <a:lnTo>
                  <a:pt x="0" y="70883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" t="-1671" b="-1671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857330" y="7925961"/>
            <a:ext cx="303879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Horas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promedio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sueño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por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noche</a:t>
            </a:r>
            <a:endParaRPr lang="en-US" sz="2000" dirty="0">
              <a:solidFill>
                <a:srgbClr val="F3DBC5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Calidad del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sueño</a:t>
            </a:r>
            <a:endParaRPr lang="en-US" sz="2000" dirty="0">
              <a:solidFill>
                <a:srgbClr val="F3DBC5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0" lvl="0" indent="0" algn="l">
              <a:lnSpc>
                <a:spcPts val="2600"/>
              </a:lnSpc>
              <a:spcBef>
                <a:spcPct val="0"/>
              </a:spcBef>
            </a:pPr>
            <a:endParaRPr lang="en-US" sz="2000" dirty="0">
              <a:solidFill>
                <a:srgbClr val="F3DBC5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775621" y="6965074"/>
            <a:ext cx="3051564" cy="259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Índice de masa corporal</a:t>
            </a:r>
          </a:p>
          <a:p>
            <a:pPr marL="431801" lvl="1" indent="-215900" algn="l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Frecuencia cardíaca en reposo</a:t>
            </a:r>
          </a:p>
          <a:p>
            <a:pPr marL="431801" lvl="1" indent="-215900" algn="l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Nivel de estrés</a:t>
            </a:r>
          </a:p>
          <a:p>
            <a:pPr marL="431801" lvl="1" indent="-21590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Grado de problemas de salud</a:t>
            </a:r>
          </a:p>
          <a:p>
            <a:pPr marL="0" lvl="0" indent="0" algn="l">
              <a:lnSpc>
                <a:spcPts val="2600"/>
              </a:lnSpc>
              <a:spcBef>
                <a:spcPct val="0"/>
              </a:spcBef>
            </a:pPr>
            <a:endParaRPr lang="en-US" sz="2000">
              <a:solidFill>
                <a:srgbClr val="4E2215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9" grpId="0"/>
      <p:bldP spid="20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D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0625" y="4857750"/>
            <a:ext cx="1606867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4695825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3698300" y="4686300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365300" y="4695825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28700" y="1219200"/>
            <a:ext cx="162306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Flujo</a:t>
            </a:r>
            <a:r>
              <a:rPr lang="en-US" sz="8000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8000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Metodológico</a:t>
            </a:r>
            <a:endParaRPr lang="en-US" sz="8000" b="1" dirty="0">
              <a:solidFill>
                <a:srgbClr val="4E2215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5482834"/>
            <a:ext cx="2139509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Carga</a:t>
            </a:r>
            <a:r>
              <a:rPr lang="en-US" sz="2199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y </a:t>
            </a: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Preparación</a:t>
            </a:r>
            <a:r>
              <a:rPr lang="en-US" sz="2199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Inicial</a:t>
            </a:r>
            <a:r>
              <a:rPr lang="en-US" sz="2199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los </a:t>
            </a: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Datos</a:t>
            </a:r>
            <a:endParaRPr lang="en-US" sz="2199" b="1" dirty="0">
              <a:solidFill>
                <a:srgbClr val="4E2215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7219559"/>
            <a:ext cx="2139509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Ca</a:t>
            </a:r>
            <a:r>
              <a:rPr lang="en-US" sz="1900" u="none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rga del dataset y estandarización de variables.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032300" y="4686300"/>
            <a:ext cx="323850" cy="323850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3698300" y="5482834"/>
            <a:ext cx="2126189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Análisis Exploratorio de Datos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2817" y="5482834"/>
            <a:ext cx="2046271" cy="71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Inferencia</a:t>
            </a:r>
            <a:r>
              <a:rPr lang="en-US" sz="2199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Univariada</a:t>
            </a:r>
            <a:endParaRPr lang="en-US" sz="2199" b="1" dirty="0">
              <a:solidFill>
                <a:srgbClr val="4E2215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032300" y="5482834"/>
            <a:ext cx="2126189" cy="71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Modelado Predictivo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99300" y="5482834"/>
            <a:ext cx="2112869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Segmentación</a:t>
            </a:r>
            <a:endParaRPr lang="en-US" sz="2199" b="1" dirty="0">
              <a:solidFill>
                <a:srgbClr val="4E2215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366300" y="5482834"/>
            <a:ext cx="2325985" cy="71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Diagnóstico</a:t>
            </a:r>
            <a:r>
              <a:rPr lang="en-US" sz="2199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y </a:t>
            </a:r>
            <a:r>
              <a:rPr lang="en-US" sz="2199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Síntesis</a:t>
            </a:r>
            <a:endParaRPr lang="en-US" sz="2199" b="1" dirty="0">
              <a:solidFill>
                <a:srgbClr val="4E2215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698300" y="7219559"/>
            <a:ext cx="2126189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Análisis</a:t>
            </a:r>
            <a:r>
              <a:rPr lang="en-US" sz="1900" u="none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distribuciones y detección de correlaciones lineales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2817" y="7219559"/>
            <a:ext cx="2046271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Contraste</a:t>
            </a:r>
            <a:r>
              <a:rPr lang="en-US" sz="1900" u="none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hipótesis para Cafeína vs. Sueño y Estrés.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32300" y="7219559"/>
            <a:ext cx="2046271" cy="199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Regresión</a:t>
            </a:r>
            <a:r>
              <a:rPr lang="en-US" sz="19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Lineal</a:t>
            </a:r>
            <a:r>
              <a:rPr lang="en-US" sz="1900" u="none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y </a:t>
            </a:r>
            <a:r>
              <a:rPr lang="en-US" sz="1900" u="none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Regresión</a:t>
            </a:r>
            <a:r>
              <a:rPr lang="en-US" sz="1900" u="none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00" u="none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Logística</a:t>
            </a:r>
            <a:r>
              <a:rPr lang="en-US" sz="1900" u="none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Ordinal para </a:t>
            </a:r>
            <a:r>
              <a:rPr lang="en-US" sz="1900" u="none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identificar</a:t>
            </a:r>
            <a:r>
              <a:rPr lang="en-US" sz="1900" u="none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00" u="none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predictores</a:t>
            </a:r>
            <a:r>
              <a:rPr lang="en-US" sz="1900" u="none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900" u="none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salud</a:t>
            </a:r>
            <a:r>
              <a:rPr lang="en-US" sz="1900" u="none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99300" y="7219559"/>
            <a:ext cx="2046271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Contraste</a:t>
            </a:r>
            <a:r>
              <a:rPr lang="en-US" sz="1900" u="none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hipótesis para Cafeína vs. Sueño y Estrés.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66300" y="7219559"/>
            <a:ext cx="2046271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Contraste</a:t>
            </a:r>
            <a:r>
              <a:rPr lang="en-US" sz="1900" u="none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hipótesis para Cafeína vs. Sueño y Estrés.</a:t>
            </a:r>
          </a:p>
        </p:txBody>
      </p:sp>
      <p:sp>
        <p:nvSpPr>
          <p:cNvPr id="24" name="Freeform 24"/>
          <p:cNvSpPr/>
          <p:nvPr/>
        </p:nvSpPr>
        <p:spPr>
          <a:xfrm rot="6670335">
            <a:off x="731767" y="4379172"/>
            <a:ext cx="651937" cy="744324"/>
          </a:xfrm>
          <a:custGeom>
            <a:avLst/>
            <a:gdLst/>
            <a:ahLst/>
            <a:cxnLst/>
            <a:rect l="l" t="t" r="r" b="b"/>
            <a:pathLst>
              <a:path w="651937" h="744324">
                <a:moveTo>
                  <a:pt x="0" y="0"/>
                </a:moveTo>
                <a:lnTo>
                  <a:pt x="651938" y="0"/>
                </a:lnTo>
                <a:lnTo>
                  <a:pt x="651938" y="744324"/>
                </a:lnTo>
                <a:lnTo>
                  <a:pt x="0" y="744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8571945">
            <a:off x="3463913" y="4233826"/>
            <a:ext cx="792623" cy="904947"/>
          </a:xfrm>
          <a:custGeom>
            <a:avLst/>
            <a:gdLst/>
            <a:ahLst/>
            <a:cxnLst/>
            <a:rect l="l" t="t" r="r" b="b"/>
            <a:pathLst>
              <a:path w="792623" h="904947">
                <a:moveTo>
                  <a:pt x="0" y="0"/>
                </a:moveTo>
                <a:lnTo>
                  <a:pt x="792623" y="0"/>
                </a:lnTo>
                <a:lnTo>
                  <a:pt x="792623" y="904948"/>
                </a:lnTo>
                <a:lnTo>
                  <a:pt x="0" y="904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6703244">
            <a:off x="6081354" y="4380402"/>
            <a:ext cx="642927" cy="734037"/>
          </a:xfrm>
          <a:custGeom>
            <a:avLst/>
            <a:gdLst/>
            <a:ahLst/>
            <a:cxnLst/>
            <a:rect l="l" t="t" r="r" b="b"/>
            <a:pathLst>
              <a:path w="642927" h="734037">
                <a:moveTo>
                  <a:pt x="0" y="0"/>
                </a:moveTo>
                <a:lnTo>
                  <a:pt x="642927" y="0"/>
                </a:lnTo>
                <a:lnTo>
                  <a:pt x="642927" y="734036"/>
                </a:lnTo>
                <a:lnTo>
                  <a:pt x="0" y="73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10026972">
            <a:off x="9034686" y="4375392"/>
            <a:ext cx="642927" cy="734037"/>
          </a:xfrm>
          <a:custGeom>
            <a:avLst/>
            <a:gdLst/>
            <a:ahLst/>
            <a:cxnLst/>
            <a:rect l="l" t="t" r="r" b="b"/>
            <a:pathLst>
              <a:path w="642927" h="734037">
                <a:moveTo>
                  <a:pt x="0" y="0"/>
                </a:moveTo>
                <a:lnTo>
                  <a:pt x="642927" y="0"/>
                </a:lnTo>
                <a:lnTo>
                  <a:pt x="642927" y="734036"/>
                </a:lnTo>
                <a:lnTo>
                  <a:pt x="0" y="73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7128619">
            <a:off x="11649584" y="4430140"/>
            <a:ext cx="562654" cy="642389"/>
          </a:xfrm>
          <a:custGeom>
            <a:avLst/>
            <a:gdLst/>
            <a:ahLst/>
            <a:cxnLst/>
            <a:rect l="l" t="t" r="r" b="b"/>
            <a:pathLst>
              <a:path w="562654" h="642389">
                <a:moveTo>
                  <a:pt x="0" y="0"/>
                </a:moveTo>
                <a:lnTo>
                  <a:pt x="562654" y="0"/>
                </a:lnTo>
                <a:lnTo>
                  <a:pt x="562654" y="642388"/>
                </a:lnTo>
                <a:lnTo>
                  <a:pt x="0" y="642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2520347">
            <a:off x="13847513" y="4504544"/>
            <a:ext cx="822092" cy="938592"/>
          </a:xfrm>
          <a:custGeom>
            <a:avLst/>
            <a:gdLst/>
            <a:ahLst/>
            <a:cxnLst/>
            <a:rect l="l" t="t" r="r" b="b"/>
            <a:pathLst>
              <a:path w="822092" h="938592">
                <a:moveTo>
                  <a:pt x="0" y="0"/>
                </a:moveTo>
                <a:lnTo>
                  <a:pt x="822092" y="0"/>
                </a:lnTo>
                <a:lnTo>
                  <a:pt x="822092" y="938592"/>
                </a:lnTo>
                <a:lnTo>
                  <a:pt x="0" y="93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D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37629" y="5299989"/>
            <a:ext cx="4432408" cy="6468407"/>
            <a:chOff x="0" y="0"/>
            <a:chExt cx="855459" cy="1248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5459" cy="1248409"/>
            </a:xfrm>
            <a:custGeom>
              <a:avLst/>
              <a:gdLst/>
              <a:ahLst/>
              <a:cxnLst/>
              <a:rect l="l" t="t" r="r" b="b"/>
              <a:pathLst>
                <a:path w="855459" h="1248409">
                  <a:moveTo>
                    <a:pt x="0" y="0"/>
                  </a:moveTo>
                  <a:lnTo>
                    <a:pt x="855459" y="0"/>
                  </a:lnTo>
                  <a:lnTo>
                    <a:pt x="855459" y="1248409"/>
                  </a:lnTo>
                  <a:lnTo>
                    <a:pt x="0" y="1248409"/>
                  </a:lnTo>
                  <a:close/>
                </a:path>
              </a:pathLst>
            </a:custGeom>
            <a:solidFill>
              <a:srgbClr val="943C1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55459" cy="1305559"/>
            </a:xfrm>
            <a:prstGeom prst="rect">
              <a:avLst/>
            </a:prstGeom>
          </p:spPr>
          <p:txBody>
            <a:bodyPr lIns="60745" tIns="60745" rIns="60745" bIns="60745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53287" y="5448992"/>
            <a:ext cx="4001090" cy="2653990"/>
          </a:xfrm>
          <a:custGeom>
            <a:avLst/>
            <a:gdLst/>
            <a:ahLst/>
            <a:cxnLst/>
            <a:rect l="l" t="t" r="r" b="b"/>
            <a:pathLst>
              <a:path w="4001090" h="2653990">
                <a:moveTo>
                  <a:pt x="0" y="0"/>
                </a:moveTo>
                <a:lnTo>
                  <a:pt x="4001091" y="0"/>
                </a:lnTo>
                <a:lnTo>
                  <a:pt x="4001091" y="2653990"/>
                </a:lnTo>
                <a:lnTo>
                  <a:pt x="0" y="2653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883430" y="-542457"/>
            <a:ext cx="10026697" cy="12742003"/>
            <a:chOff x="0" y="0"/>
            <a:chExt cx="1935162" cy="24592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5162" cy="2459219"/>
            </a:xfrm>
            <a:custGeom>
              <a:avLst/>
              <a:gdLst/>
              <a:ahLst/>
              <a:cxnLst/>
              <a:rect l="l" t="t" r="r" b="b"/>
              <a:pathLst>
                <a:path w="1935162" h="2459219">
                  <a:moveTo>
                    <a:pt x="0" y="0"/>
                  </a:moveTo>
                  <a:lnTo>
                    <a:pt x="1935162" y="0"/>
                  </a:lnTo>
                  <a:lnTo>
                    <a:pt x="1935162" y="2459219"/>
                  </a:lnTo>
                  <a:lnTo>
                    <a:pt x="0" y="2459219"/>
                  </a:lnTo>
                  <a:close/>
                </a:path>
              </a:pathLst>
            </a:custGeom>
            <a:solidFill>
              <a:srgbClr val="943C1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935162" cy="2516369"/>
            </a:xfrm>
            <a:prstGeom prst="rect">
              <a:avLst/>
            </a:prstGeom>
          </p:spPr>
          <p:txBody>
            <a:bodyPr lIns="60745" tIns="60745" rIns="60745" bIns="60745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741393" y="-761456"/>
            <a:ext cx="4432408" cy="5389508"/>
            <a:chOff x="0" y="0"/>
            <a:chExt cx="855459" cy="10401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5459" cy="1040180"/>
            </a:xfrm>
            <a:custGeom>
              <a:avLst/>
              <a:gdLst/>
              <a:ahLst/>
              <a:cxnLst/>
              <a:rect l="l" t="t" r="r" b="b"/>
              <a:pathLst>
                <a:path w="855459" h="1040180">
                  <a:moveTo>
                    <a:pt x="0" y="0"/>
                  </a:moveTo>
                  <a:lnTo>
                    <a:pt x="855459" y="0"/>
                  </a:lnTo>
                  <a:lnTo>
                    <a:pt x="855459" y="1040180"/>
                  </a:lnTo>
                  <a:lnTo>
                    <a:pt x="0" y="1040180"/>
                  </a:lnTo>
                  <a:close/>
                </a:path>
              </a:pathLst>
            </a:custGeom>
            <a:solidFill>
              <a:srgbClr val="943C1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55459" cy="1097330"/>
            </a:xfrm>
            <a:prstGeom prst="rect">
              <a:avLst/>
            </a:prstGeom>
          </p:spPr>
          <p:txBody>
            <a:bodyPr lIns="60745" tIns="60745" rIns="60745" bIns="60745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15634" y="1858702"/>
            <a:ext cx="3883926" cy="2586705"/>
            <a:chOff x="0" y="0"/>
            <a:chExt cx="1220415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20415" cy="812800"/>
            </a:xfrm>
            <a:custGeom>
              <a:avLst/>
              <a:gdLst/>
              <a:ahLst/>
              <a:cxnLst/>
              <a:rect l="l" t="t" r="r" b="b"/>
              <a:pathLst>
                <a:path w="1220415" h="812800">
                  <a:moveTo>
                    <a:pt x="0" y="0"/>
                  </a:moveTo>
                  <a:lnTo>
                    <a:pt x="1220415" y="0"/>
                  </a:lnTo>
                  <a:lnTo>
                    <a:pt x="1220415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519" r="-51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137629" y="1676056"/>
            <a:ext cx="5484667" cy="2951996"/>
            <a:chOff x="0" y="0"/>
            <a:chExt cx="1058546" cy="5697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8546" cy="569738"/>
            </a:xfrm>
            <a:custGeom>
              <a:avLst/>
              <a:gdLst/>
              <a:ahLst/>
              <a:cxnLst/>
              <a:rect l="l" t="t" r="r" b="b"/>
              <a:pathLst>
                <a:path w="1058546" h="569738">
                  <a:moveTo>
                    <a:pt x="0" y="0"/>
                  </a:moveTo>
                  <a:lnTo>
                    <a:pt x="1058546" y="0"/>
                  </a:lnTo>
                  <a:lnTo>
                    <a:pt x="1058546" y="569738"/>
                  </a:lnTo>
                  <a:lnTo>
                    <a:pt x="0" y="569738"/>
                  </a:lnTo>
                  <a:close/>
                </a:path>
              </a:pathLst>
            </a:custGeom>
            <a:solidFill>
              <a:srgbClr val="943C1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58546" cy="626888"/>
            </a:xfrm>
            <a:prstGeom prst="rect">
              <a:avLst/>
            </a:prstGeom>
          </p:spPr>
          <p:txBody>
            <a:bodyPr lIns="60745" tIns="60745" rIns="60745" bIns="60745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11870" y="1858702"/>
            <a:ext cx="3883926" cy="2586705"/>
            <a:chOff x="0" y="0"/>
            <a:chExt cx="1220415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0415" cy="812800"/>
            </a:xfrm>
            <a:custGeom>
              <a:avLst/>
              <a:gdLst/>
              <a:ahLst/>
              <a:cxnLst/>
              <a:rect l="l" t="t" r="r" b="b"/>
              <a:pathLst>
                <a:path w="1220415" h="812800">
                  <a:moveTo>
                    <a:pt x="0" y="0"/>
                  </a:moveTo>
                  <a:lnTo>
                    <a:pt x="1220415" y="0"/>
                  </a:lnTo>
                  <a:lnTo>
                    <a:pt x="1220415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458" r="-458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662498" y="884528"/>
            <a:ext cx="5937645" cy="4535052"/>
          </a:xfrm>
          <a:custGeom>
            <a:avLst/>
            <a:gdLst/>
            <a:ahLst/>
            <a:cxnLst/>
            <a:rect l="l" t="t" r="r" b="b"/>
            <a:pathLst>
              <a:path w="5937645" h="4535052">
                <a:moveTo>
                  <a:pt x="0" y="0"/>
                </a:moveTo>
                <a:lnTo>
                  <a:pt x="5937646" y="0"/>
                </a:lnTo>
                <a:lnTo>
                  <a:pt x="5937646" y="4535052"/>
                </a:lnTo>
                <a:lnTo>
                  <a:pt x="0" y="4535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741393" y="5228022"/>
            <a:ext cx="4697075" cy="290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7"/>
              </a:lnSpc>
            </a:pP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La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mayoría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 de las variables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presentan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 una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distribución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aproximadamente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 normal o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uniforme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, lo que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facilita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 el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uso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modelos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783" b="1" dirty="0" err="1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paramétricos</a:t>
            </a:r>
            <a:r>
              <a:rPr lang="en-US" sz="2783" b="1" dirty="0">
                <a:solidFill>
                  <a:srgbClr val="4E2215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2702" y="6163154"/>
            <a:ext cx="4697075" cy="3386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7"/>
              </a:lnSpc>
            </a:pP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Correlación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negativa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moderada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entre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Caffeine_mg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Sleep_Hours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. La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mayoría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los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predictores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muestran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correlaciones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débiles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entre </a:t>
            </a:r>
            <a:r>
              <a:rPr lang="en-US" sz="2783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sí</a:t>
            </a:r>
            <a:r>
              <a:rPr lang="en-US" sz="2783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id="22" name="Freeform 22"/>
          <p:cNvSpPr/>
          <p:nvPr/>
        </p:nvSpPr>
        <p:spPr>
          <a:xfrm rot="2520347">
            <a:off x="16750880" y="-308953"/>
            <a:ext cx="1492883" cy="1704441"/>
          </a:xfrm>
          <a:custGeom>
            <a:avLst/>
            <a:gdLst/>
            <a:ahLst/>
            <a:cxnLst/>
            <a:rect l="l" t="t" r="r" b="b"/>
            <a:pathLst>
              <a:path w="1492883" h="1704441">
                <a:moveTo>
                  <a:pt x="0" y="0"/>
                </a:moveTo>
                <a:lnTo>
                  <a:pt x="1492883" y="0"/>
                </a:lnTo>
                <a:lnTo>
                  <a:pt x="1492883" y="1704441"/>
                </a:lnTo>
                <a:lnTo>
                  <a:pt x="0" y="17044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9898037">
            <a:off x="-48026" y="8443201"/>
            <a:ext cx="1925763" cy="2198665"/>
          </a:xfrm>
          <a:custGeom>
            <a:avLst/>
            <a:gdLst/>
            <a:ahLst/>
            <a:cxnLst/>
            <a:rect l="l" t="t" r="r" b="b"/>
            <a:pathLst>
              <a:path w="1925763" h="2198665">
                <a:moveTo>
                  <a:pt x="0" y="0"/>
                </a:moveTo>
                <a:lnTo>
                  <a:pt x="1925762" y="0"/>
                </a:lnTo>
                <a:lnTo>
                  <a:pt x="1925762" y="2198665"/>
                </a:lnTo>
                <a:lnTo>
                  <a:pt x="0" y="2198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1834656">
            <a:off x="14563574" y="-298732"/>
            <a:ext cx="1392953" cy="1590350"/>
          </a:xfrm>
          <a:custGeom>
            <a:avLst/>
            <a:gdLst/>
            <a:ahLst/>
            <a:cxnLst/>
            <a:rect l="l" t="t" r="r" b="b"/>
            <a:pathLst>
              <a:path w="1392953" h="1590350">
                <a:moveTo>
                  <a:pt x="0" y="0"/>
                </a:moveTo>
                <a:lnTo>
                  <a:pt x="1392953" y="0"/>
                </a:lnTo>
                <a:lnTo>
                  <a:pt x="1392953" y="1590350"/>
                </a:lnTo>
                <a:lnTo>
                  <a:pt x="0" y="1590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D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83430" y="-1727914"/>
            <a:ext cx="10532848" cy="12742003"/>
            <a:chOff x="0" y="0"/>
            <a:chExt cx="2032850" cy="24592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2850" cy="2459219"/>
            </a:xfrm>
            <a:custGeom>
              <a:avLst/>
              <a:gdLst/>
              <a:ahLst/>
              <a:cxnLst/>
              <a:rect l="l" t="t" r="r" b="b"/>
              <a:pathLst>
                <a:path w="2032850" h="2459219">
                  <a:moveTo>
                    <a:pt x="0" y="0"/>
                  </a:moveTo>
                  <a:lnTo>
                    <a:pt x="2032850" y="0"/>
                  </a:lnTo>
                  <a:lnTo>
                    <a:pt x="2032850" y="2459219"/>
                  </a:lnTo>
                  <a:lnTo>
                    <a:pt x="0" y="2459219"/>
                  </a:lnTo>
                  <a:close/>
                </a:path>
              </a:pathLst>
            </a:custGeom>
            <a:solidFill>
              <a:srgbClr val="CF7B4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32850" cy="2516369"/>
            </a:xfrm>
            <a:prstGeom prst="rect">
              <a:avLst/>
            </a:prstGeom>
          </p:spPr>
          <p:txBody>
            <a:bodyPr lIns="60745" tIns="60745" rIns="60745" bIns="60745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49417" y="3222891"/>
            <a:ext cx="10879161" cy="7134394"/>
            <a:chOff x="0" y="0"/>
            <a:chExt cx="2099688" cy="13769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9688" cy="1376945"/>
            </a:xfrm>
            <a:custGeom>
              <a:avLst/>
              <a:gdLst/>
              <a:ahLst/>
              <a:cxnLst/>
              <a:rect l="l" t="t" r="r" b="b"/>
              <a:pathLst>
                <a:path w="2099688" h="1376945">
                  <a:moveTo>
                    <a:pt x="0" y="0"/>
                  </a:moveTo>
                  <a:lnTo>
                    <a:pt x="2099688" y="0"/>
                  </a:lnTo>
                  <a:lnTo>
                    <a:pt x="2099688" y="1376945"/>
                  </a:lnTo>
                  <a:lnTo>
                    <a:pt x="0" y="1376945"/>
                  </a:lnTo>
                  <a:close/>
                </a:path>
              </a:pathLst>
            </a:custGeom>
            <a:solidFill>
              <a:srgbClr val="4E221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99688" cy="1434095"/>
            </a:xfrm>
            <a:prstGeom prst="rect">
              <a:avLst/>
            </a:prstGeom>
          </p:spPr>
          <p:txBody>
            <a:bodyPr lIns="60745" tIns="60745" rIns="60745" bIns="60745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103326" y="5948389"/>
            <a:ext cx="5818635" cy="3718008"/>
          </a:xfrm>
          <a:custGeom>
            <a:avLst/>
            <a:gdLst/>
            <a:ahLst/>
            <a:cxnLst/>
            <a:rect l="l" t="t" r="r" b="b"/>
            <a:pathLst>
              <a:path w="5818635" h="3718008">
                <a:moveTo>
                  <a:pt x="0" y="0"/>
                </a:moveTo>
                <a:lnTo>
                  <a:pt x="5818635" y="0"/>
                </a:lnTo>
                <a:lnTo>
                  <a:pt x="5818635" y="3718008"/>
                </a:lnTo>
                <a:lnTo>
                  <a:pt x="0" y="3718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0" r="-13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103326" y="3634472"/>
            <a:ext cx="5818635" cy="169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Las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observaciones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y los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errores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del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son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independientes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Esto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se deduce del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estadístico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Durbin-Watson que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dió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1.9,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esto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evidencia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no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autocorrelación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los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residuos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del </a:t>
            </a:r>
            <a:r>
              <a:rPr lang="en-US" sz="2096" b="1" dirty="0" err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</a:t>
            </a:r>
            <a:r>
              <a:rPr lang="en-US" sz="2096" b="1" dirty="0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79161" y="6340475"/>
            <a:ext cx="3567220" cy="291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CF804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Los residuos del modelo se distribuyen aproximadamente de forma normal. Los tests Omnibus (5.394) y Jarque-Bera (5.184) son ambos mayores a 0.05, esto prueba normalidad de residuos.</a:t>
            </a:r>
          </a:p>
          <a:p>
            <a:pPr algn="ctr">
              <a:lnSpc>
                <a:spcPts val="2600"/>
              </a:lnSpc>
              <a:spcBef>
                <a:spcPct val="0"/>
              </a:spcBef>
            </a:pPr>
            <a:endParaRPr lang="en-US" sz="2000" b="1">
              <a:solidFill>
                <a:srgbClr val="CF804D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580317" y="3565214"/>
            <a:ext cx="6611900" cy="6449748"/>
            <a:chOff x="0" y="0"/>
            <a:chExt cx="8815867" cy="8599664"/>
          </a:xfrm>
        </p:grpSpPr>
        <p:sp>
          <p:nvSpPr>
            <p:cNvPr id="12" name="Freeform 12"/>
            <p:cNvSpPr/>
            <p:nvPr/>
          </p:nvSpPr>
          <p:spPr>
            <a:xfrm>
              <a:off x="0" y="842804"/>
              <a:ext cx="8701567" cy="5599032"/>
            </a:xfrm>
            <a:custGeom>
              <a:avLst/>
              <a:gdLst/>
              <a:ahLst/>
              <a:cxnLst/>
              <a:rect l="l" t="t" r="r" b="b"/>
              <a:pathLst>
                <a:path w="8701567" h="5599032">
                  <a:moveTo>
                    <a:pt x="0" y="0"/>
                  </a:moveTo>
                  <a:lnTo>
                    <a:pt x="8701567" y="0"/>
                  </a:lnTo>
                  <a:lnTo>
                    <a:pt x="8701567" y="5599032"/>
                  </a:lnTo>
                  <a:lnTo>
                    <a:pt x="0" y="5599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90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6877756"/>
              <a:ext cx="8701567" cy="1721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El consumo de cafeína explica aproximadamente el 3.6% de la variabilidad observada en las horas de sueño, de ahí la alta dispersión alrededor de la recta.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8701567" cy="426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 b="1" dirty="0" err="1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Existe</a:t>
              </a:r>
              <a:r>
                <a:rPr lang="en-US" sz="2000" b="1" dirty="0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 una </a:t>
              </a:r>
              <a:r>
                <a:rPr lang="en-US" sz="2000" b="1" dirty="0" err="1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tendencia</a:t>
              </a:r>
              <a:r>
                <a:rPr lang="en-US" sz="2000" b="1" dirty="0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 </a:t>
              </a:r>
              <a:r>
                <a:rPr lang="en-US" sz="2000" b="1" dirty="0" err="1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descendente</a:t>
              </a:r>
              <a:r>
                <a:rPr lang="en-US" sz="2000" b="1" dirty="0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 </a:t>
              </a:r>
              <a:r>
                <a:rPr lang="en-US" sz="2000" b="1" dirty="0" err="1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clara</a:t>
              </a:r>
              <a:r>
                <a:rPr lang="en-US" sz="2000" b="1" dirty="0">
                  <a:solidFill>
                    <a:srgbClr val="F3DBC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74623" y="362573"/>
            <a:ext cx="282328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</a:t>
            </a:r>
            <a:endParaRPr lang="en-US" sz="3000" b="1" dirty="0">
              <a:solidFill>
                <a:srgbClr val="F3DBC5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103326" y="524005"/>
            <a:ext cx="9843055" cy="216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2860"/>
              </a:lnSpc>
              <a:buFont typeface="Arial"/>
              <a:buChar char="•"/>
            </a:pP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Hipótesis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nula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: No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existe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relación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lineal entre el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consumo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cafeína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y las horas de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sueño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marL="474981" lvl="1" indent="-237491" algn="l">
              <a:lnSpc>
                <a:spcPts val="2860"/>
              </a:lnSpc>
              <a:buFont typeface="Arial"/>
              <a:buChar char="•"/>
            </a:pP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Hipótesis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alternativa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: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Existe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una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relación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lineal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estadísticamente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significativa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entre </a:t>
            </a:r>
            <a:r>
              <a:rPr lang="en-US" sz="22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ambas</a:t>
            </a:r>
            <a:r>
              <a:rPr lang="en-US" sz="22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variables.</a:t>
            </a:r>
          </a:p>
          <a:p>
            <a:pPr algn="l">
              <a:lnSpc>
                <a:spcPts val="2860"/>
              </a:lnSpc>
            </a:pPr>
            <a:endParaRPr lang="en-US" sz="2200" dirty="0">
              <a:solidFill>
                <a:srgbClr val="4E2215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2860"/>
              </a:lnSpc>
            </a:pPr>
            <a:r>
              <a:rPr lang="en-US" sz="2200" b="1" dirty="0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 que p-valor &lt; 0.05 se </a:t>
            </a:r>
            <a:r>
              <a:rPr lang="en-US" sz="2200" b="1" dirty="0" err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rechaza</a:t>
            </a:r>
            <a:r>
              <a:rPr lang="en-US" sz="2200" b="1" dirty="0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la </a:t>
            </a:r>
            <a:r>
              <a:rPr lang="en-US" sz="2200" b="1" dirty="0" err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hipótesis</a:t>
            </a:r>
            <a:r>
              <a:rPr lang="en-US" sz="2200" b="1" dirty="0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200" b="1" dirty="0" err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nula</a:t>
            </a:r>
            <a:r>
              <a:rPr lang="en-US" sz="2200" b="1" dirty="0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5" y="1019206"/>
            <a:ext cx="7483380" cy="1592231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4464" y="336119"/>
            <a:ext cx="8527790" cy="1766299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33021" y="2187847"/>
            <a:ext cx="7106492" cy="65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Por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cada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desviación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estándar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que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aumenta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el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consumo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cafeína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, el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sueño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disminuye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0.19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desviaciones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000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estándar</a:t>
            </a:r>
            <a:r>
              <a:rPr lang="en-US" sz="2000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id="20" name="Freeform 20"/>
          <p:cNvSpPr/>
          <p:nvPr/>
        </p:nvSpPr>
        <p:spPr>
          <a:xfrm rot="5996629">
            <a:off x="16920410" y="2247000"/>
            <a:ext cx="1513034" cy="1727447"/>
          </a:xfrm>
          <a:custGeom>
            <a:avLst/>
            <a:gdLst/>
            <a:ahLst/>
            <a:cxnLst/>
            <a:rect l="l" t="t" r="r" b="b"/>
            <a:pathLst>
              <a:path w="1513034" h="1727447">
                <a:moveTo>
                  <a:pt x="0" y="0"/>
                </a:moveTo>
                <a:lnTo>
                  <a:pt x="1513034" y="0"/>
                </a:lnTo>
                <a:lnTo>
                  <a:pt x="1513034" y="1727448"/>
                </a:lnTo>
                <a:lnTo>
                  <a:pt x="0" y="17274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6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D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1764801" cy="1985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801" cy="1985401"/>
            </a:xfrm>
            <a:custGeom>
              <a:avLst/>
              <a:gdLst/>
              <a:ahLst/>
              <a:cxnLst/>
              <a:rect l="l" t="t" r="r" b="b"/>
              <a:pathLst>
                <a:path w="1764801" h="1985401">
                  <a:moveTo>
                    <a:pt x="0" y="0"/>
                  </a:moveTo>
                  <a:lnTo>
                    <a:pt x="1764801" y="0"/>
                  </a:lnTo>
                  <a:lnTo>
                    <a:pt x="1764801" y="1985401"/>
                  </a:lnTo>
                  <a:lnTo>
                    <a:pt x="0" y="1985401"/>
                  </a:lnTo>
                  <a:close/>
                </a:path>
              </a:pathLst>
            </a:custGeom>
            <a:solidFill>
              <a:srgbClr val="4E221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64801" cy="2042551"/>
            </a:xfrm>
            <a:prstGeom prst="rect">
              <a:avLst/>
            </a:prstGeom>
          </p:spPr>
          <p:txBody>
            <a:bodyPr lIns="60745" tIns="60745" rIns="60745" bIns="60745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25374" y="2848692"/>
            <a:ext cx="7493252" cy="4589617"/>
          </a:xfrm>
          <a:custGeom>
            <a:avLst/>
            <a:gdLst/>
            <a:ahLst/>
            <a:cxnLst/>
            <a:rect l="l" t="t" r="r" b="b"/>
            <a:pathLst>
              <a:path w="7493252" h="4589617">
                <a:moveTo>
                  <a:pt x="0" y="0"/>
                </a:moveTo>
                <a:lnTo>
                  <a:pt x="7493252" y="0"/>
                </a:lnTo>
                <a:lnTo>
                  <a:pt x="7493252" y="4589616"/>
                </a:lnTo>
                <a:lnTo>
                  <a:pt x="0" y="458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81891" y="2277745"/>
            <a:ext cx="8355827" cy="4592771"/>
          </a:xfrm>
          <a:custGeom>
            <a:avLst/>
            <a:gdLst/>
            <a:ahLst/>
            <a:cxnLst/>
            <a:rect l="l" t="t" r="r" b="b"/>
            <a:pathLst>
              <a:path w="8355827" h="4592771">
                <a:moveTo>
                  <a:pt x="0" y="0"/>
                </a:moveTo>
                <a:lnTo>
                  <a:pt x="8355826" y="0"/>
                </a:lnTo>
                <a:lnTo>
                  <a:pt x="8355826" y="4592771"/>
                </a:lnTo>
                <a:lnTo>
                  <a:pt x="0" y="459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9980" y="441938"/>
            <a:ext cx="8217400" cy="212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just">
              <a:lnSpc>
                <a:spcPts val="246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Hipótesis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nula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: No hay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asociación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entre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consumo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de café y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presencia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problemas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salud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marL="410209" lvl="1" indent="-205105" algn="just">
              <a:lnSpc>
                <a:spcPts val="246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Hipótesis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alternativa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: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Existe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una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asociación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significativa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entre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consumo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de café y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presencia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problemas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1899" dirty="0" err="1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salud</a:t>
            </a:r>
            <a:r>
              <a:rPr lang="en-US" sz="1899" dirty="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just">
              <a:lnSpc>
                <a:spcPts val="2469"/>
              </a:lnSpc>
              <a:spcBef>
                <a:spcPct val="0"/>
              </a:spcBef>
            </a:pPr>
            <a:endParaRPr lang="en-US" sz="1899" dirty="0">
              <a:solidFill>
                <a:srgbClr val="F3DBC5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just">
              <a:lnSpc>
                <a:spcPts val="246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p-valor es 0.736 &gt; 0.05: la </a:t>
            </a:r>
            <a:r>
              <a:rPr lang="en-US" sz="18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cafeína</a:t>
            </a: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no </a:t>
            </a:r>
            <a:r>
              <a:rPr lang="en-US" sz="18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tiene</a:t>
            </a: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un </a:t>
            </a:r>
            <a:r>
              <a:rPr lang="en-US" sz="18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efecto</a:t>
            </a: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18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estadísticamente</a:t>
            </a: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18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significativo</a:t>
            </a: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18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sobre</a:t>
            </a: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los </a:t>
            </a:r>
            <a:r>
              <a:rPr lang="en-US" sz="18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problemas</a:t>
            </a: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</a:t>
            </a:r>
            <a:r>
              <a:rPr lang="en-US" sz="1899" b="1" dirty="0" err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salud</a:t>
            </a:r>
            <a:r>
              <a:rPr lang="en-US" sz="1899" b="1" dirty="0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980" y="7651448"/>
            <a:ext cx="8217400" cy="212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lang="en-US" sz="1900" b="1">
                <a:solidFill>
                  <a:srgbClr val="F3DB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Predictores fuertes: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A mayor edad, aumenta drásticamente la probabilidad de pasar a niveles superiores de problemas de salud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Un mayor índice de masa corporal está fuertemente ligado a peores niveles de salud.</a:t>
            </a:r>
          </a:p>
          <a:p>
            <a:pPr marL="410211" lvl="1" indent="-205106" algn="l">
              <a:lnSpc>
                <a:spcPts val="2470"/>
              </a:lnSpc>
              <a:spcBef>
                <a:spcPct val="0"/>
              </a:spcBef>
              <a:buFont typeface="Arial"/>
              <a:buChar char="•"/>
            </a:pPr>
            <a:r>
              <a:rPr lang="en-US" sz="1900">
                <a:solidFill>
                  <a:srgbClr val="F3DBC5"/>
                </a:solidFill>
                <a:latin typeface="Open Sans 1"/>
                <a:ea typeface="Open Sans 1"/>
                <a:cs typeface="Open Sans 1"/>
                <a:sym typeface="Open Sans 1"/>
              </a:rPr>
              <a:t>Por cada hora extra de sueño, la probabilidad de tener problemas de salud graves cae significativamente.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81891" y="541061"/>
            <a:ext cx="8355827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El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análisis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de Chi-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cuadrado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reveló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una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asociación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estadísticamente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significativa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entre el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nivel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consumo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cafeína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y la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severidad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de los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problemas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000" dirty="0" err="1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salud</a:t>
            </a:r>
            <a:r>
              <a:rPr lang="en-US" sz="2000" dirty="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0099" y="1437504"/>
            <a:ext cx="2079412" cy="750984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481891" y="7127691"/>
            <a:ext cx="8355827" cy="291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Para evaluar la fuerza de la asociación entre los niveles categorizados de consumo y la severidad de los problemas de salud, se calculó el coeficiente </a:t>
            </a:r>
            <a:r>
              <a:rPr lang="en-US" sz="2000" b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 de Cramer</a:t>
            </a: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, obteniendo un valor de </a:t>
            </a:r>
            <a:r>
              <a:rPr lang="en-US" sz="2000" b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0.0642</a:t>
            </a: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. Según las escalas de interpretación estándar se considera una asociación insignificante o muy débil. A pesar de que la prueba de </a:t>
            </a:r>
            <a:r>
              <a:rPr lang="en-US" sz="2000" b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Chi-cuadrado</a:t>
            </a: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previa reportó una asociación estadísticamente significativa debido al gran volumen de datos, la </a:t>
            </a:r>
            <a:r>
              <a:rPr lang="en-US" sz="2000" b="1">
                <a:solidFill>
                  <a:srgbClr val="4E22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 de Cramer</a:t>
            </a:r>
            <a:r>
              <a:rPr lang="en-US" sz="2000">
                <a:solidFill>
                  <a:srgbClr val="4E2215"/>
                </a:solidFill>
                <a:latin typeface="Open Sans 1"/>
                <a:ea typeface="Open Sans 1"/>
                <a:cs typeface="Open Sans 1"/>
                <a:sym typeface="Open Sans 1"/>
              </a:rPr>
              <a:t> revela que la importancia práctica del consumo de café sobre el estado de salud general es mínima dentro de este dataset.</a:t>
            </a:r>
          </a:p>
        </p:txBody>
      </p:sp>
      <p:sp>
        <p:nvSpPr>
          <p:cNvPr id="12" name="Freeform 12"/>
          <p:cNvSpPr/>
          <p:nvPr/>
        </p:nvSpPr>
        <p:spPr>
          <a:xfrm rot="4257603">
            <a:off x="7758490" y="6937030"/>
            <a:ext cx="755684" cy="862773"/>
          </a:xfrm>
          <a:custGeom>
            <a:avLst/>
            <a:gdLst/>
            <a:ahLst/>
            <a:cxnLst/>
            <a:rect l="l" t="t" r="r" b="b"/>
            <a:pathLst>
              <a:path w="755684" h="862773">
                <a:moveTo>
                  <a:pt x="0" y="0"/>
                </a:moveTo>
                <a:lnTo>
                  <a:pt x="755684" y="0"/>
                </a:lnTo>
                <a:lnTo>
                  <a:pt x="755684" y="862773"/>
                </a:lnTo>
                <a:lnTo>
                  <a:pt x="0" y="862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9887545">
            <a:off x="758522" y="6193516"/>
            <a:ext cx="540355" cy="616930"/>
          </a:xfrm>
          <a:custGeom>
            <a:avLst/>
            <a:gdLst/>
            <a:ahLst/>
            <a:cxnLst/>
            <a:rect l="l" t="t" r="r" b="b"/>
            <a:pathLst>
              <a:path w="540355" h="616930">
                <a:moveTo>
                  <a:pt x="0" y="0"/>
                </a:moveTo>
                <a:lnTo>
                  <a:pt x="540356" y="0"/>
                </a:lnTo>
                <a:lnTo>
                  <a:pt x="540356" y="616930"/>
                </a:lnTo>
                <a:lnTo>
                  <a:pt x="0" y="6169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3981684">
            <a:off x="17233167" y="6233533"/>
            <a:ext cx="862186" cy="984368"/>
          </a:xfrm>
          <a:custGeom>
            <a:avLst/>
            <a:gdLst/>
            <a:ahLst/>
            <a:cxnLst/>
            <a:rect l="l" t="t" r="r" b="b"/>
            <a:pathLst>
              <a:path w="862186" h="984368">
                <a:moveTo>
                  <a:pt x="0" y="0"/>
                </a:moveTo>
                <a:lnTo>
                  <a:pt x="862186" y="0"/>
                </a:lnTo>
                <a:lnTo>
                  <a:pt x="862186" y="984367"/>
                </a:lnTo>
                <a:lnTo>
                  <a:pt x="0" y="984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849502">
            <a:off x="17355191" y="1685155"/>
            <a:ext cx="965054" cy="1101813"/>
          </a:xfrm>
          <a:custGeom>
            <a:avLst/>
            <a:gdLst/>
            <a:ahLst/>
            <a:cxnLst/>
            <a:rect l="l" t="t" r="r" b="b"/>
            <a:pathLst>
              <a:path w="965054" h="1101813">
                <a:moveTo>
                  <a:pt x="0" y="0"/>
                </a:moveTo>
                <a:lnTo>
                  <a:pt x="965053" y="0"/>
                </a:lnTo>
                <a:lnTo>
                  <a:pt x="965053" y="1101813"/>
                </a:lnTo>
                <a:lnTo>
                  <a:pt x="0" y="1101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D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69109" y="3906749"/>
            <a:ext cx="8688507" cy="5351551"/>
            <a:chOff x="0" y="0"/>
            <a:chExt cx="1496309" cy="9216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6309" cy="921629"/>
            </a:xfrm>
            <a:custGeom>
              <a:avLst/>
              <a:gdLst/>
              <a:ahLst/>
              <a:cxnLst/>
              <a:rect l="l" t="t" r="r" b="b"/>
              <a:pathLst>
                <a:path w="1496309" h="921629">
                  <a:moveTo>
                    <a:pt x="0" y="0"/>
                  </a:moveTo>
                  <a:lnTo>
                    <a:pt x="1496309" y="0"/>
                  </a:lnTo>
                  <a:lnTo>
                    <a:pt x="1496309" y="921629"/>
                  </a:lnTo>
                  <a:lnTo>
                    <a:pt x="0" y="921629"/>
                  </a:lnTo>
                  <a:close/>
                </a:path>
              </a:pathLst>
            </a:custGeom>
            <a:solidFill>
              <a:srgbClr val="4E221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96309" cy="978779"/>
            </a:xfrm>
            <a:prstGeom prst="rect">
              <a:avLst/>
            </a:prstGeom>
          </p:spPr>
          <p:txBody>
            <a:bodyPr lIns="68076" tIns="68076" rIns="68076" bIns="68076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3637280">
            <a:off x="8917714" y="-498554"/>
            <a:ext cx="9635053" cy="23388616"/>
            <a:chOff x="0" y="0"/>
            <a:chExt cx="1859574" cy="45140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9574" cy="4514025"/>
            </a:xfrm>
            <a:custGeom>
              <a:avLst/>
              <a:gdLst/>
              <a:ahLst/>
              <a:cxnLst/>
              <a:rect l="l" t="t" r="r" b="b"/>
              <a:pathLst>
                <a:path w="1859574" h="4514025">
                  <a:moveTo>
                    <a:pt x="0" y="0"/>
                  </a:moveTo>
                  <a:lnTo>
                    <a:pt x="1859574" y="0"/>
                  </a:lnTo>
                  <a:lnTo>
                    <a:pt x="1859574" y="4514025"/>
                  </a:lnTo>
                  <a:lnTo>
                    <a:pt x="0" y="4514025"/>
                  </a:lnTo>
                  <a:close/>
                </a:path>
              </a:pathLst>
            </a:custGeom>
            <a:solidFill>
              <a:srgbClr val="4E221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59574" cy="4571175"/>
            </a:xfrm>
            <a:prstGeom prst="rect">
              <a:avLst/>
            </a:prstGeom>
          </p:spPr>
          <p:txBody>
            <a:bodyPr lIns="60745" tIns="60745" rIns="60745" bIns="60745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144000" y="4117263"/>
            <a:ext cx="8696379" cy="5666606"/>
          </a:xfrm>
          <a:custGeom>
            <a:avLst/>
            <a:gdLst/>
            <a:ahLst/>
            <a:cxnLst/>
            <a:rect l="l" t="t" r="r" b="b"/>
            <a:pathLst>
              <a:path w="8696379" h="5666606">
                <a:moveTo>
                  <a:pt x="0" y="0"/>
                </a:moveTo>
                <a:lnTo>
                  <a:pt x="8696379" y="0"/>
                </a:lnTo>
                <a:lnTo>
                  <a:pt x="8696379" y="5666607"/>
                </a:lnTo>
                <a:lnTo>
                  <a:pt x="0" y="5666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13747" y="503220"/>
            <a:ext cx="8235636" cy="4352571"/>
            <a:chOff x="0" y="0"/>
            <a:chExt cx="10980847" cy="580342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0980847" cy="5803428"/>
              <a:chOff x="0" y="0"/>
              <a:chExt cx="1418317" cy="749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18317" cy="749587"/>
              </a:xfrm>
              <a:custGeom>
                <a:avLst/>
                <a:gdLst/>
                <a:ahLst/>
                <a:cxnLst/>
                <a:rect l="l" t="t" r="r" b="b"/>
                <a:pathLst>
                  <a:path w="1418317" h="749587">
                    <a:moveTo>
                      <a:pt x="0" y="0"/>
                    </a:moveTo>
                    <a:lnTo>
                      <a:pt x="1418317" y="0"/>
                    </a:lnTo>
                    <a:lnTo>
                      <a:pt x="1418317" y="749587"/>
                    </a:lnTo>
                    <a:lnTo>
                      <a:pt x="0" y="749587"/>
                    </a:lnTo>
                    <a:close/>
                  </a:path>
                </a:pathLst>
              </a:custGeom>
              <a:solidFill>
                <a:srgbClr val="4E2215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1418317" cy="806737"/>
              </a:xfrm>
              <a:prstGeom prst="rect">
                <a:avLst/>
              </a:prstGeom>
            </p:spPr>
            <p:txBody>
              <a:bodyPr lIns="68076" tIns="68076" rIns="68076" bIns="68076" rtlCol="0" anchor="ctr"/>
              <a:lstStyle/>
              <a:p>
                <a:pPr algn="ctr">
                  <a:lnSpc>
                    <a:spcPts val="3150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73833" y="284503"/>
              <a:ext cx="10413278" cy="5234422"/>
            </a:xfrm>
            <a:custGeom>
              <a:avLst/>
              <a:gdLst/>
              <a:ahLst/>
              <a:cxnLst/>
              <a:rect l="l" t="t" r="r" b="b"/>
              <a:pathLst>
                <a:path w="10413278" h="5234422">
                  <a:moveTo>
                    <a:pt x="0" y="0"/>
                  </a:moveTo>
                  <a:lnTo>
                    <a:pt x="10413278" y="0"/>
                  </a:lnTo>
                  <a:lnTo>
                    <a:pt x="10413278" y="5234422"/>
                  </a:lnTo>
                  <a:lnTo>
                    <a:pt x="0" y="5234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866000" y="5132487"/>
            <a:ext cx="6968920" cy="437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Para la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selección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del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número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óptimo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clusters, se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contrastaron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los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métodos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del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codo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y el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coeficiente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silueta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.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Aunque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la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inercia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muestra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una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disminución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constante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, el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coeficiente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silueta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alcanza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su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valor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máximo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global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en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 = 2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. Este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resultado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indica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que, dada la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baja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correlación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entre las variables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originales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, la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estructura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natural de los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datos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se divide de forma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más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coherente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en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dos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grandes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perfiles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poblacionales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maximizando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la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cohesión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interna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y la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separación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entre </a:t>
            </a:r>
            <a:r>
              <a:rPr lang="en-US" sz="2100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grupos</a:t>
            </a:r>
            <a:r>
              <a:rPr lang="en-US" sz="2100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algn="ctr">
              <a:lnSpc>
                <a:spcPts val="3150"/>
              </a:lnSpc>
              <a:spcBef>
                <a:spcPct val="0"/>
              </a:spcBef>
            </a:pPr>
            <a:endParaRPr lang="en-US" sz="2100" dirty="0">
              <a:solidFill>
                <a:srgbClr val="4E2215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69109" y="436545"/>
            <a:ext cx="8290191" cy="3231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spcBef>
                <a:spcPct val="0"/>
              </a:spcBef>
            </a:pPr>
            <a:r>
              <a:rPr lang="en-US" sz="1958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Perfil</a:t>
            </a:r>
            <a:r>
              <a:rPr lang="en-US" sz="1958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0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958" i="1" dirty="0" err="1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Consumidor</a:t>
            </a:r>
            <a:r>
              <a:rPr lang="en-US" sz="1958" i="1" dirty="0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 </a:t>
            </a:r>
            <a:r>
              <a:rPr lang="en-US" sz="1958" i="1" dirty="0" err="1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Moderado</a:t>
            </a:r>
            <a:r>
              <a:rPr lang="en-US" sz="1958" i="1" dirty="0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 y </a:t>
            </a:r>
            <a:r>
              <a:rPr lang="en-US" sz="1958" i="1" dirty="0" err="1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Equilibrado</a:t>
            </a:r>
            <a:endParaRPr lang="en-US" sz="1958" i="1" dirty="0">
              <a:solidFill>
                <a:srgbClr val="4E2215"/>
              </a:solidFill>
              <a:latin typeface="Open Sans 2 Italics"/>
              <a:ea typeface="Open Sans 2 Italics"/>
              <a:cs typeface="Open Sans 2 Italics"/>
              <a:sym typeface="Open Sans 2 Italics"/>
            </a:endParaRPr>
          </a:p>
          <a:p>
            <a:pPr marL="422769" lvl="1" indent="-211385" algn="l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Consumo</a:t>
            </a:r>
            <a:r>
              <a:rPr lang="en-US" sz="1958" u="sng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Cafeína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Notablemete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bajo (</a:t>
            </a:r>
            <a:r>
              <a:rPr lang="en-US" sz="1958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155 mg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).</a:t>
            </a:r>
          </a:p>
          <a:p>
            <a:pPr marL="422769" lvl="1" indent="-211385" algn="l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Higiene</a:t>
            </a:r>
            <a:r>
              <a:rPr lang="en-US" sz="1958" u="sng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del </a:t>
            </a: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Sueño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Promedio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958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7.32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horas.</a:t>
            </a:r>
          </a:p>
          <a:p>
            <a:pPr marL="422769" lvl="1" indent="-211385" algn="l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Compensación</a:t>
            </a:r>
            <a:r>
              <a:rPr lang="en-US" sz="1958" u="sng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Activa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: Es el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grupo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con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menos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actividad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física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(</a:t>
            </a:r>
            <a:r>
              <a:rPr lang="en-US" sz="1958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7 h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).</a:t>
            </a:r>
          </a:p>
          <a:p>
            <a:pPr algn="l">
              <a:lnSpc>
                <a:spcPts val="2937"/>
              </a:lnSpc>
              <a:spcBef>
                <a:spcPct val="0"/>
              </a:spcBef>
            </a:pPr>
            <a:endParaRPr lang="en-US" sz="1958" dirty="0">
              <a:solidFill>
                <a:srgbClr val="4E2215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2937"/>
              </a:lnSpc>
              <a:spcBef>
                <a:spcPct val="0"/>
              </a:spcBef>
            </a:pPr>
            <a:r>
              <a:rPr lang="en-US" sz="1958" b="1" dirty="0" err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Perfil</a:t>
            </a:r>
            <a:r>
              <a:rPr lang="en-US" sz="1958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1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958" i="1" dirty="0" err="1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Consumidor</a:t>
            </a:r>
            <a:r>
              <a:rPr lang="en-US" sz="1958" i="1" dirty="0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 </a:t>
            </a:r>
            <a:r>
              <a:rPr lang="en-US" sz="1958" i="1" dirty="0" err="1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Intensivo</a:t>
            </a:r>
            <a:r>
              <a:rPr lang="en-US" sz="1958" i="1" dirty="0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 de Alta </a:t>
            </a:r>
            <a:r>
              <a:rPr lang="en-US" sz="1958" i="1" dirty="0" err="1">
                <a:solidFill>
                  <a:srgbClr val="4E221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Estimulación</a:t>
            </a:r>
            <a:endParaRPr lang="en-US" sz="1958" i="1" dirty="0">
              <a:solidFill>
                <a:srgbClr val="4E2215"/>
              </a:solidFill>
              <a:latin typeface="Open Sans 2 Italics"/>
              <a:ea typeface="Open Sans 2 Italics"/>
              <a:cs typeface="Open Sans 2 Italics"/>
              <a:sym typeface="Open Sans 2 Italics"/>
            </a:endParaRPr>
          </a:p>
          <a:p>
            <a:pPr marL="422769" lvl="1" indent="-211385" algn="l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Consumo</a:t>
            </a:r>
            <a:r>
              <a:rPr lang="en-US" sz="1958" u="sng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Cafeína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Muy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elevado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(</a:t>
            </a:r>
            <a:r>
              <a:rPr lang="en-US" sz="1958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326 mg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).</a:t>
            </a:r>
          </a:p>
          <a:p>
            <a:pPr marL="422769" lvl="1" indent="-211385" algn="l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Higiene</a:t>
            </a:r>
            <a:r>
              <a:rPr lang="en-US" sz="1958" u="sng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del </a:t>
            </a: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Sueño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Crítica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, con solo </a:t>
            </a:r>
            <a:r>
              <a:rPr lang="en-US" sz="1958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5.91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horas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promedio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marL="422769" lvl="1" indent="-211385" algn="l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Compensación</a:t>
            </a:r>
            <a:r>
              <a:rPr lang="en-US" sz="1958" u="sng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58" u="sng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Activa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: Es el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grupo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con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más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actividad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958" dirty="0" err="1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física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 (</a:t>
            </a:r>
            <a:r>
              <a:rPr lang="en-US" sz="1958" b="1" dirty="0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7.9 h</a:t>
            </a:r>
            <a:r>
              <a:rPr lang="en-US" sz="1958" dirty="0">
                <a:solidFill>
                  <a:srgbClr val="4E2215"/>
                </a:solidFill>
                <a:latin typeface="Open Sans 2"/>
                <a:ea typeface="Open Sans 2"/>
                <a:cs typeface="Open Sans 2"/>
                <a:sym typeface="Open Sans 2"/>
              </a:rPr>
              <a:t>).</a:t>
            </a:r>
          </a:p>
        </p:txBody>
      </p:sp>
      <p:sp>
        <p:nvSpPr>
          <p:cNvPr id="16" name="Freeform 16"/>
          <p:cNvSpPr/>
          <p:nvPr/>
        </p:nvSpPr>
        <p:spPr>
          <a:xfrm rot="1849502">
            <a:off x="17355191" y="1685155"/>
            <a:ext cx="965054" cy="1101813"/>
          </a:xfrm>
          <a:custGeom>
            <a:avLst/>
            <a:gdLst/>
            <a:ahLst/>
            <a:cxnLst/>
            <a:rect l="l" t="t" r="r" b="b"/>
            <a:pathLst>
              <a:path w="965054" h="1101813">
                <a:moveTo>
                  <a:pt x="0" y="0"/>
                </a:moveTo>
                <a:lnTo>
                  <a:pt x="965053" y="0"/>
                </a:lnTo>
                <a:lnTo>
                  <a:pt x="965053" y="1101813"/>
                </a:lnTo>
                <a:lnTo>
                  <a:pt x="0" y="110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692762">
            <a:off x="17280124" y="-127052"/>
            <a:ext cx="1335332" cy="1524563"/>
          </a:xfrm>
          <a:custGeom>
            <a:avLst/>
            <a:gdLst/>
            <a:ahLst/>
            <a:cxnLst/>
            <a:rect l="l" t="t" r="r" b="b"/>
            <a:pathLst>
              <a:path w="1335332" h="1524563">
                <a:moveTo>
                  <a:pt x="0" y="0"/>
                </a:moveTo>
                <a:lnTo>
                  <a:pt x="1335331" y="0"/>
                </a:lnTo>
                <a:lnTo>
                  <a:pt x="1335331" y="1524563"/>
                </a:lnTo>
                <a:lnTo>
                  <a:pt x="0" y="1524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3377197">
            <a:off x="-280345" y="9167389"/>
            <a:ext cx="1784593" cy="2037490"/>
          </a:xfrm>
          <a:custGeom>
            <a:avLst/>
            <a:gdLst/>
            <a:ahLst/>
            <a:cxnLst/>
            <a:rect l="l" t="t" r="r" b="b"/>
            <a:pathLst>
              <a:path w="1784593" h="2037490">
                <a:moveTo>
                  <a:pt x="0" y="0"/>
                </a:moveTo>
                <a:lnTo>
                  <a:pt x="1784593" y="0"/>
                </a:lnTo>
                <a:lnTo>
                  <a:pt x="1784593" y="2037491"/>
                </a:lnTo>
                <a:lnTo>
                  <a:pt x="0" y="2037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367567">
            <a:off x="7888485" y="307863"/>
            <a:ext cx="922503" cy="1053232"/>
          </a:xfrm>
          <a:custGeom>
            <a:avLst/>
            <a:gdLst/>
            <a:ahLst/>
            <a:cxnLst/>
            <a:rect l="l" t="t" r="r" b="b"/>
            <a:pathLst>
              <a:path w="922503" h="1053232">
                <a:moveTo>
                  <a:pt x="0" y="0"/>
                </a:moveTo>
                <a:lnTo>
                  <a:pt x="922503" y="0"/>
                </a:lnTo>
                <a:lnTo>
                  <a:pt x="922503" y="1053232"/>
                </a:lnTo>
                <a:lnTo>
                  <a:pt x="0" y="105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94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273861" y="1664392"/>
            <a:ext cx="7112877" cy="711287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715000" y="6350000"/>
                  </a:moveTo>
                  <a:lnTo>
                    <a:pt x="635000" y="6350000"/>
                  </a:lnTo>
                  <a:cubicBezTo>
                    <a:pt x="2844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5715000"/>
                  </a:lnTo>
                  <a:cubicBezTo>
                    <a:pt x="6350000" y="6065520"/>
                    <a:pt x="6065520" y="6350000"/>
                    <a:pt x="5715000" y="635000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715000" y="19050"/>
                  </a:moveTo>
                  <a:cubicBezTo>
                    <a:pt x="6054090" y="19050"/>
                    <a:pt x="6330950" y="295910"/>
                    <a:pt x="6330950" y="635000"/>
                  </a:cubicBezTo>
                  <a:lnTo>
                    <a:pt x="6330950" y="5715000"/>
                  </a:lnTo>
                  <a:cubicBezTo>
                    <a:pt x="6330950" y="6054090"/>
                    <a:pt x="6054090" y="6330950"/>
                    <a:pt x="5715000" y="6330950"/>
                  </a:cubicBezTo>
                  <a:lnTo>
                    <a:pt x="635000" y="6330950"/>
                  </a:lnTo>
                  <a:cubicBezTo>
                    <a:pt x="295910" y="6330950"/>
                    <a:pt x="19050" y="6054090"/>
                    <a:pt x="19050" y="5715000"/>
                  </a:cubicBezTo>
                  <a:lnTo>
                    <a:pt x="19050" y="635000"/>
                  </a:lnTo>
                  <a:cubicBezTo>
                    <a:pt x="19050" y="295910"/>
                    <a:pt x="295910" y="19050"/>
                    <a:pt x="635000" y="19050"/>
                  </a:cubicBezTo>
                  <a:lnTo>
                    <a:pt x="5715000" y="19050"/>
                  </a:lnTo>
                  <a:moveTo>
                    <a:pt x="5715000" y="0"/>
                  </a:moveTo>
                  <a:lnTo>
                    <a:pt x="635000" y="0"/>
                  </a:lnTo>
                  <a:cubicBezTo>
                    <a:pt x="284480" y="0"/>
                    <a:pt x="0" y="284480"/>
                    <a:pt x="0" y="635000"/>
                  </a:cubicBezTo>
                  <a:lnTo>
                    <a:pt x="0" y="5715000"/>
                  </a:lnTo>
                  <a:cubicBezTo>
                    <a:pt x="0" y="6065520"/>
                    <a:pt x="284480" y="6350000"/>
                    <a:pt x="635000" y="6350000"/>
                  </a:cubicBezTo>
                  <a:lnTo>
                    <a:pt x="5715000" y="6350000"/>
                  </a:lnTo>
                  <a:cubicBezTo>
                    <a:pt x="6065520" y="6350000"/>
                    <a:pt x="6350000" y="6065520"/>
                    <a:pt x="6350000" y="5715000"/>
                  </a:cubicBezTo>
                  <a:lnTo>
                    <a:pt x="6350000" y="635000"/>
                  </a:lnTo>
                  <a:cubicBezTo>
                    <a:pt x="6350000" y="284480"/>
                    <a:pt x="6065520" y="0"/>
                    <a:pt x="5715000" y="0"/>
                  </a:cubicBezTo>
                  <a:lnTo>
                    <a:pt x="5715000" y="0"/>
                  </a:lnTo>
                  <a:close/>
                </a:path>
              </a:pathLst>
            </a:custGeom>
            <a:solidFill>
              <a:srgbClr val="873D14"/>
            </a:solidFill>
          </p:spPr>
        </p:sp>
      </p:grpSp>
      <p:sp>
        <p:nvSpPr>
          <p:cNvPr id="5" name="AutoShape 5"/>
          <p:cNvSpPr/>
          <p:nvPr/>
        </p:nvSpPr>
        <p:spPr>
          <a:xfrm>
            <a:off x="1351101" y="8767745"/>
            <a:ext cx="7869099" cy="0"/>
          </a:xfrm>
          <a:prstGeom prst="line">
            <a:avLst/>
          </a:prstGeom>
          <a:ln w="19050" cap="flat">
            <a:solidFill>
              <a:srgbClr val="873D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384300" y="2002804"/>
            <a:ext cx="7999490" cy="65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8"/>
              </a:lnSpc>
              <a:spcBef>
                <a:spcPct val="0"/>
              </a:spcBef>
            </a:pP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 bien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cafeína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presenta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una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relación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negativa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significativa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con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duración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del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sueño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y una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asociación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positiva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con el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estrés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,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su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impacto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es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moderado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y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actúa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principalmente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como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una variable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mediadora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dentro de un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sistema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hábitos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vida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. Mediante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modelos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multivariados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, se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determinó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que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factores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como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higiene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del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sueño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,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edad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y el IMC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poseen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un peso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predictivo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superior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sobre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salud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general,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permitiendo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identificar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dos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perfiles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poblacionales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claros: el "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consumidor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equilibrado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" y el de "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alta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estimulación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",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quien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utiliza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cafeína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para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compensar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déficits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crónicos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descanso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derivados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una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alta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actividad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física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.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Aunque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naturaleza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sintética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del dataset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limita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detección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umbrales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clínicos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precisos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, los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hallazgos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subrayan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necesidad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futuros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estudios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longitudinales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que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evalúen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interacciones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biológicas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complejas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y variables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cualitativas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del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consumo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para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desvelar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riesgos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multiplicativos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la </a:t>
            </a:r>
            <a:r>
              <a:rPr lang="en-US" sz="2587" b="1" u="none" strike="noStrike" dirty="0" err="1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salud</a:t>
            </a:r>
            <a:r>
              <a:rPr lang="en-US" sz="2587" b="1" u="none" strike="noStrike" dirty="0">
                <a:solidFill>
                  <a:srgbClr val="53210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integral.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94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12723" y="4534217"/>
            <a:ext cx="10263345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4E221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Gracias</a:t>
            </a:r>
          </a:p>
        </p:txBody>
      </p:sp>
      <p:sp>
        <p:nvSpPr>
          <p:cNvPr id="3" name="AutoShape 3"/>
          <p:cNvSpPr/>
          <p:nvPr/>
        </p:nvSpPr>
        <p:spPr>
          <a:xfrm>
            <a:off x="1775634" y="4213481"/>
            <a:ext cx="1969439" cy="1860037"/>
          </a:xfrm>
          <a:prstGeom prst="rect">
            <a:avLst/>
          </a:prstGeom>
          <a:solidFill>
            <a:srgbClr val="C57A3A"/>
          </a:solidFill>
        </p:spPr>
      </p:sp>
      <p:sp>
        <p:nvSpPr>
          <p:cNvPr id="4" name="Freeform 4"/>
          <p:cNvSpPr/>
          <p:nvPr/>
        </p:nvSpPr>
        <p:spPr>
          <a:xfrm rot="-969970">
            <a:off x="1748901" y="4458055"/>
            <a:ext cx="1851268" cy="2037490"/>
          </a:xfrm>
          <a:custGeom>
            <a:avLst/>
            <a:gdLst/>
            <a:ahLst/>
            <a:cxnLst/>
            <a:rect l="l" t="t" r="r" b="b"/>
            <a:pathLst>
              <a:path w="1851268" h="2037490">
                <a:moveTo>
                  <a:pt x="0" y="0"/>
                </a:moveTo>
                <a:lnTo>
                  <a:pt x="1851268" y="0"/>
                </a:lnTo>
                <a:lnTo>
                  <a:pt x="1851268" y="2037491"/>
                </a:lnTo>
                <a:lnTo>
                  <a:pt x="0" y="2037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736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1060</Words>
  <Application>Microsoft Office PowerPoint</Application>
  <PresentationFormat>Personalizado</PresentationFormat>
  <Paragraphs>83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1" baseType="lpstr">
      <vt:lpstr>Barlow</vt:lpstr>
      <vt:lpstr>Open Sans 2 Bold</vt:lpstr>
      <vt:lpstr>Barlow Bold</vt:lpstr>
      <vt:lpstr>Arial</vt:lpstr>
      <vt:lpstr>Open Sans 1</vt:lpstr>
      <vt:lpstr>Open Sans 2 Italics</vt:lpstr>
      <vt:lpstr>Inter Bold</vt:lpstr>
      <vt:lpstr>Open Sans 2</vt:lpstr>
      <vt:lpstr>Calibri</vt:lpstr>
      <vt:lpstr>Open Sans 1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Cafeína y Salud: Análisis Estadístico</dc:title>
  <cp:lastModifiedBy>DELL</cp:lastModifiedBy>
  <cp:revision>2</cp:revision>
  <dcterms:created xsi:type="dcterms:W3CDTF">2006-08-16T00:00:00Z</dcterms:created>
  <dcterms:modified xsi:type="dcterms:W3CDTF">2026-01-20T05:29:17Z</dcterms:modified>
  <dc:identifier>DAG-1eJKquI</dc:identifier>
</cp:coreProperties>
</file>